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3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0" r:id="rId8"/>
  </p:sldIdLst>
  <p:sldSz cx="18288000" cy="10287000"/>
  <p:notesSz cx="6858000" cy="9144000"/>
  <p:embeddedFontLst>
    <p:embeddedFont>
      <p:font typeface="TT Ramillas" panose="020E0000080000020004"/>
      <p:regular r:id="rId12"/>
    </p:embeddedFont>
    <p:embeddedFont>
      <p:font typeface="TT Interphases" panose="02000503020000020004"/>
      <p:regular r:id="rId13"/>
    </p:embeddedFont>
    <p:embeddedFont>
      <p:font typeface="TT Interphases Bold" panose="02000803060000020004"/>
      <p:bold r:id="rId14"/>
    </p:embeddedFont>
    <p:embeddedFont>
      <p:font typeface="Calibri" panose="020F0502020204030204" charset="0"/>
      <p:regular r:id="rId15"/>
      <p:bold r:id="rId16"/>
      <p:italic r:id="rId17"/>
      <p:boldItalic r:id="rId18"/>
    </p:embeddedFont>
    <p:embeddedFont>
      <p:font typeface="Cascadia Mono" panose="020B0609020000020004" charset="0"/>
      <p:regular r:id="rId19"/>
      <p:bold r:id="rId20"/>
      <p:italic r:id="rId21"/>
      <p:boldItalic r:id="rId22"/>
    </p:embeddedFont>
    <p:embeddedFont>
      <p:font typeface="TT Ramillas" panose="020E00000800000200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8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font" Target="fonts/font12.fntdata"/><Relationship Id="rId22" Type="http://schemas.openxmlformats.org/officeDocument/2006/relationships/font" Target="fonts/font11.fntdata"/><Relationship Id="rId21" Type="http://schemas.openxmlformats.org/officeDocument/2006/relationships/font" Target="fonts/font10.fntdata"/><Relationship Id="rId20" Type="http://schemas.openxmlformats.org/officeDocument/2006/relationships/font" Target="fonts/font9.fntdata"/><Relationship Id="rId2" Type="http://schemas.openxmlformats.org/officeDocument/2006/relationships/theme" Target="theme/theme1.xml"/><Relationship Id="rId19" Type="http://schemas.openxmlformats.org/officeDocument/2006/relationships/font" Target="fonts/font8.fntdata"/><Relationship Id="rId18" Type="http://schemas.openxmlformats.org/officeDocument/2006/relationships/font" Target="fonts/font7.fntdata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  <a:alpha val="9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jpe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3.svg"/><Relationship Id="rId13" Type="http://schemas.openxmlformats.org/officeDocument/2006/relationships/image" Target="../media/image2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6725900" y="666750"/>
            <a:ext cx="895350" cy="895350"/>
            <a:chOff x="0" y="0"/>
            <a:chExt cx="1193800" cy="1193800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302457" y="301921"/>
              <a:ext cx="588886" cy="589958"/>
            </a:xfrm>
            <a:custGeom>
              <a:avLst/>
              <a:gdLst/>
              <a:ahLst/>
              <a:cxnLst/>
              <a:rect l="l" t="t" r="r" b="b"/>
              <a:pathLst>
                <a:path w="588886" h="589958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AutoShape 7"/>
          <p:cNvSpPr/>
          <p:nvPr/>
        </p:nvSpPr>
        <p:spPr>
          <a:xfrm>
            <a:off x="10429875" y="9620250"/>
            <a:ext cx="7191375" cy="0"/>
          </a:xfrm>
          <a:prstGeom prst="line">
            <a:avLst/>
          </a:prstGeom>
          <a:ln w="19050" cap="flat">
            <a:solidFill>
              <a:srgbClr val="F9F4E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 rot="0">
            <a:off x="0" y="0"/>
            <a:ext cx="8208011" cy="10287000"/>
            <a:chOff x="0" y="0"/>
            <a:chExt cx="1271636" cy="15937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71636" cy="1593725"/>
            </a:xfrm>
            <a:custGeom>
              <a:avLst/>
              <a:gdLst/>
              <a:ahLst/>
              <a:cxnLst/>
              <a:rect l="l" t="t" r="r" b="b"/>
              <a:pathLst>
                <a:path w="1440256" h="1593725">
                  <a:moveTo>
                    <a:pt x="0" y="0"/>
                  </a:moveTo>
                  <a:lnTo>
                    <a:pt x="1440256" y="0"/>
                  </a:lnTo>
                  <a:lnTo>
                    <a:pt x="1440256" y="1593725"/>
                  </a:lnTo>
                  <a:lnTo>
                    <a:pt x="0" y="1593725"/>
                  </a:lnTo>
                  <a:close/>
                </a:path>
              </a:pathLst>
            </a:custGeom>
            <a:blipFill rotWithShape="1">
              <a:blip r:embed="rId3"/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0734675" y="8274685"/>
            <a:ext cx="6886575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800" u="none" spc="139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Krishna Singhal</a:t>
            </a:r>
            <a:br>
              <a:rPr lang="en-US" sz="2800" u="none" spc="139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</a:br>
            <a:r>
              <a:rPr lang="en-US" sz="2800" u="none" spc="139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202501101400022</a:t>
            </a:r>
            <a:endParaRPr lang="en-US" sz="2800" u="none" spc="139">
              <a:solidFill>
                <a:srgbClr val="F8F6F4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9857105" y="2400300"/>
            <a:ext cx="7095490" cy="1929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6000">
                <a:solidFill>
                  <a:schemeClr val="bg1"/>
                </a:solidFill>
                <a:latin typeface="Cascadia Mono" panose="020B0609020000020004" charset="0"/>
                <a:cs typeface="Cascadia Mono" panose="020B0609020000020004" charset="0"/>
              </a:rPr>
              <a:t>TECH REVIEW HUB</a:t>
            </a:r>
            <a:endParaRPr lang="en-US" altLang="en-GB" sz="6000">
              <a:solidFill>
                <a:schemeClr val="bg1"/>
              </a:solidFill>
              <a:latin typeface="Cascadia Mono" panose="020B0609020000020004" charset="0"/>
              <a:cs typeface="Cascadia Mono" panose="020B06090200000200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857250"/>
            <a:ext cx="8324850" cy="2597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00"/>
              </a:lnSpc>
              <a:spcBef>
                <a:spcPct val="0"/>
              </a:spcBef>
            </a:pPr>
            <a:r>
              <a:rPr lang="en-US" sz="10000" spc="-199">
                <a:solidFill>
                  <a:srgbClr val="F8F6F4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Use Case Overview</a:t>
            </a:r>
            <a:endParaRPr lang="en-US" sz="10000" spc="-199">
              <a:solidFill>
                <a:srgbClr val="F8F6F4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8991720" y="629794"/>
            <a:ext cx="5939670" cy="3909277"/>
            <a:chOff x="0" y="66675"/>
            <a:chExt cx="7264400" cy="4781167"/>
          </a:xfrm>
        </p:grpSpPr>
        <p:sp>
          <p:nvSpPr>
            <p:cNvPr id="4" name="TextBox 4"/>
            <p:cNvSpPr txBox="1"/>
            <p:nvPr>
              <p:custDataLst>
                <p:tags r:id="rId2"/>
              </p:custDataLst>
            </p:nvPr>
          </p:nvSpPr>
          <p:spPr>
            <a:xfrm>
              <a:off x="0" y="66675"/>
              <a:ext cx="7264400" cy="469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3000" spc="-59">
                  <a:solidFill>
                    <a:srgbClr val="F8F6F4"/>
                  </a:solidFill>
                  <a:latin typeface="TT Ramillas" panose="020E0000080000020004"/>
                  <a:ea typeface="TT Ramillas" panose="020E0000080000020004"/>
                  <a:cs typeface="TT Ramillas" panose="020E0000080000020004"/>
                  <a:sym typeface="TT Ramillas" panose="020E0000080000020004"/>
                </a:rPr>
                <a:t>Product Browsing</a:t>
              </a:r>
              <a:endParaRPr lang="en-US" sz="3000" spc="-59">
                <a:solidFill>
                  <a:srgbClr val="F8F6F4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endParaRPr>
            </a:p>
          </p:txBody>
        </p:sp>
        <p:sp>
          <p:nvSpPr>
            <p:cNvPr id="5" name="TextBox 5"/>
            <p:cNvSpPr txBox="1"/>
            <p:nvPr>
              <p:custDataLst>
                <p:tags r:id="rId3"/>
              </p:custDataLst>
            </p:nvPr>
          </p:nvSpPr>
          <p:spPr>
            <a:xfrm>
              <a:off x="17611" y="1158875"/>
              <a:ext cx="7246789" cy="3688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altLang="en-GB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Users can browse tech products in four categories:</a:t>
              </a:r>
              <a:endParaRPr lang="en-US" altLang="en-GB" sz="2100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  <a:p>
              <a:pPr marL="342900" lvl="0" indent="-342900" algn="l">
                <a:lnSpc>
                  <a:spcPts val="294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GB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Mobiles</a:t>
              </a:r>
              <a:endParaRPr lang="en-US" altLang="en-GB" sz="2100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  <a:p>
              <a:pPr marL="342900" lvl="0" indent="-342900" algn="l">
                <a:lnSpc>
                  <a:spcPts val="294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GB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Laptops</a:t>
              </a:r>
              <a:endParaRPr lang="en-US" altLang="en-GB" sz="2100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  <a:p>
              <a:pPr marL="342900" lvl="0" indent="-342900" algn="l">
                <a:lnSpc>
                  <a:spcPts val="294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GB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Smartwatches</a:t>
              </a:r>
              <a:endParaRPr lang="en-US" altLang="en-GB" sz="2100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  <a:p>
              <a:pPr marL="342900" lvl="0" indent="-342900" algn="l">
                <a:lnSpc>
                  <a:spcPts val="294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GB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Tablets</a:t>
              </a:r>
              <a:endParaRPr lang="en-US" altLang="en-GB" sz="2100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altLang="en-GB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Each category displays multiple brands with multiple devices</a:t>
              </a:r>
              <a:endParaRPr lang="en-US" altLang="en-GB" sz="2100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</p:txBody>
        </p:sp>
        <p:sp>
          <p:nvSpPr>
            <p:cNvPr id="6" name="AutoShape 6"/>
            <p:cNvSpPr/>
            <p:nvPr>
              <p:custDataLst>
                <p:tags r:id="rId4"/>
              </p:custDataLst>
            </p:nvPr>
          </p:nvSpPr>
          <p:spPr>
            <a:xfrm>
              <a:off x="17611" y="895350"/>
              <a:ext cx="7246789" cy="0"/>
            </a:xfrm>
            <a:prstGeom prst="line">
              <a:avLst/>
            </a:prstGeom>
            <a:ln w="25400" cap="flat">
              <a:solidFill>
                <a:srgbClr val="F9F4ED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7" name="Group 7"/>
          <p:cNvGrpSpPr/>
          <p:nvPr>
            <p:custDataLst>
              <p:tags r:id="rId5"/>
            </p:custDataLst>
          </p:nvPr>
        </p:nvGrpSpPr>
        <p:grpSpPr>
          <a:xfrm rot="0">
            <a:off x="837888" y="3828219"/>
            <a:ext cx="5939670" cy="3532087"/>
            <a:chOff x="0" y="66675"/>
            <a:chExt cx="7264400" cy="4319852"/>
          </a:xfrm>
        </p:grpSpPr>
        <p:sp>
          <p:nvSpPr>
            <p:cNvPr id="8" name="TextBox 8"/>
            <p:cNvSpPr txBox="1"/>
            <p:nvPr>
              <p:custDataLst>
                <p:tags r:id="rId6"/>
              </p:custDataLst>
            </p:nvPr>
          </p:nvSpPr>
          <p:spPr>
            <a:xfrm>
              <a:off x="0" y="66675"/>
              <a:ext cx="7264400" cy="469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altLang="en-GB" sz="3000" spc="-59">
                  <a:solidFill>
                    <a:srgbClr val="F8F6F4"/>
                  </a:solidFill>
                  <a:latin typeface="TT Ramillas" panose="020E0000080000020004"/>
                  <a:ea typeface="TT Ramillas" panose="020E0000080000020004"/>
                  <a:cs typeface="TT Ramillas" panose="020E0000080000020004"/>
                  <a:sym typeface="TT Ramillas" panose="020E0000080000020004"/>
                </a:rPr>
                <a:t>Viewing Product Details</a:t>
              </a:r>
              <a:endParaRPr lang="en-US" altLang="en-GB" sz="3000" spc="-59">
                <a:solidFill>
                  <a:srgbClr val="F8F6F4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7"/>
              </p:custDataLst>
            </p:nvPr>
          </p:nvSpPr>
          <p:spPr>
            <a:xfrm>
              <a:off x="17611" y="1158875"/>
              <a:ext cx="7246789" cy="3227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altLang="en-GB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For every device, users can see:</a:t>
              </a:r>
              <a:endParaRPr lang="en-US" altLang="en-GB" sz="2100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  <a:p>
              <a:pPr marL="342900" lvl="0" indent="-342900" algn="l">
                <a:lnSpc>
                  <a:spcPts val="294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GB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Product name</a:t>
              </a:r>
              <a:endParaRPr lang="en-US" altLang="en-GB" sz="2100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  <a:p>
              <a:pPr marL="342900" lvl="0" indent="-342900" algn="l">
                <a:lnSpc>
                  <a:spcPts val="294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GB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Product image</a:t>
              </a:r>
              <a:endParaRPr lang="en-US" altLang="en-GB" sz="2100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  <a:p>
              <a:pPr marL="342900" lvl="0" indent="-342900" algn="l">
                <a:lnSpc>
                  <a:spcPts val="294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GB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Key specifications</a:t>
              </a:r>
              <a:endParaRPr lang="en-US" altLang="en-GB" sz="2100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  <a:p>
              <a:pPr marL="342900" lvl="0" indent="-342900" algn="l">
                <a:lnSpc>
                  <a:spcPts val="294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GB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Category &amp; brand</a:t>
              </a:r>
              <a:endParaRPr lang="en-US" altLang="en-GB" sz="2100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altLang="en-GB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This helps them understand the features before buying.</a:t>
              </a:r>
              <a:endParaRPr lang="en-US" altLang="en-GB" sz="2100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</p:txBody>
        </p:sp>
        <p:sp>
          <p:nvSpPr>
            <p:cNvPr id="10" name="AutoShape 10"/>
            <p:cNvSpPr/>
            <p:nvPr>
              <p:custDataLst>
                <p:tags r:id="rId8"/>
              </p:custDataLst>
            </p:nvPr>
          </p:nvSpPr>
          <p:spPr>
            <a:xfrm>
              <a:off x="17611" y="895350"/>
              <a:ext cx="7246789" cy="0"/>
            </a:xfrm>
            <a:prstGeom prst="line">
              <a:avLst/>
            </a:prstGeom>
            <a:ln w="25400" cap="flat">
              <a:solidFill>
                <a:srgbClr val="F9F4ED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1" name="Group 11"/>
          <p:cNvGrpSpPr/>
          <p:nvPr>
            <p:custDataLst>
              <p:tags r:id="rId9"/>
            </p:custDataLst>
          </p:nvPr>
        </p:nvGrpSpPr>
        <p:grpSpPr>
          <a:xfrm rot="0">
            <a:off x="8991600" y="5075494"/>
            <a:ext cx="5939670" cy="3532087"/>
            <a:chOff x="0" y="66675"/>
            <a:chExt cx="7264400" cy="4319852"/>
          </a:xfrm>
        </p:grpSpPr>
        <p:sp>
          <p:nvSpPr>
            <p:cNvPr id="12" name="TextBox 12"/>
            <p:cNvSpPr txBox="1"/>
            <p:nvPr>
              <p:custDataLst>
                <p:tags r:id="rId10"/>
              </p:custDataLst>
            </p:nvPr>
          </p:nvSpPr>
          <p:spPr>
            <a:xfrm>
              <a:off x="0" y="66675"/>
              <a:ext cx="7264400" cy="469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3000" spc="-59">
                  <a:solidFill>
                    <a:srgbClr val="F8F6F4"/>
                  </a:solidFill>
                  <a:latin typeface="TT Ramillas" panose="020E0000080000020004"/>
                  <a:ea typeface="TT Ramillas" panose="020E0000080000020004"/>
                  <a:cs typeface="TT Ramillas" panose="020E0000080000020004"/>
                  <a:sym typeface="TT Ramillas" panose="020E0000080000020004"/>
                </a:rPr>
                <a:t>Easy navigation across pages</a:t>
              </a:r>
              <a:endParaRPr lang="en-US" sz="3000" spc="-59">
                <a:solidFill>
                  <a:srgbClr val="F8F6F4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endParaRPr>
            </a:p>
          </p:txBody>
        </p:sp>
        <p:sp>
          <p:nvSpPr>
            <p:cNvPr id="13" name="TextBox 13"/>
            <p:cNvSpPr txBox="1"/>
            <p:nvPr>
              <p:custDataLst>
                <p:tags r:id="rId11"/>
              </p:custDataLst>
            </p:nvPr>
          </p:nvSpPr>
          <p:spPr>
            <a:xfrm>
              <a:off x="17611" y="1158875"/>
              <a:ext cx="7246789" cy="3227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altLang="en-GB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For every device, users can see:</a:t>
              </a:r>
              <a:endParaRPr lang="en-US" altLang="en-GB" sz="2100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  <a:p>
              <a:pPr marL="342900" lvl="0" indent="-342900" algn="l">
                <a:lnSpc>
                  <a:spcPts val="294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GB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Product name</a:t>
              </a:r>
              <a:endParaRPr lang="en-US" altLang="en-GB" sz="2100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  <a:p>
              <a:pPr marL="342900" lvl="0" indent="-342900" algn="l">
                <a:lnSpc>
                  <a:spcPts val="294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GB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Product image</a:t>
              </a:r>
              <a:endParaRPr lang="en-US" altLang="en-GB" sz="2100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  <a:p>
              <a:pPr marL="342900" lvl="0" indent="-342900" algn="l">
                <a:lnSpc>
                  <a:spcPts val="294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GB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Key specifications</a:t>
              </a:r>
              <a:endParaRPr lang="en-US" altLang="en-GB" sz="2100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  <a:p>
              <a:pPr marL="342900" lvl="0" indent="-342900" algn="l">
                <a:lnSpc>
                  <a:spcPts val="294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GB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Category &amp; brand</a:t>
              </a:r>
              <a:endParaRPr lang="en-US" altLang="en-GB" sz="2100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altLang="en-GB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This helps them understand the features before buying.</a:t>
              </a:r>
              <a:endParaRPr lang="en-US" altLang="en-GB" sz="2100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</p:txBody>
        </p:sp>
        <p:sp>
          <p:nvSpPr>
            <p:cNvPr id="14" name="AutoShape 14"/>
            <p:cNvSpPr/>
            <p:nvPr>
              <p:custDataLst>
                <p:tags r:id="rId12"/>
              </p:custDataLst>
            </p:nvPr>
          </p:nvSpPr>
          <p:spPr>
            <a:xfrm>
              <a:off x="17611" y="895350"/>
              <a:ext cx="7246789" cy="0"/>
            </a:xfrm>
            <a:prstGeom prst="line">
              <a:avLst/>
            </a:prstGeom>
            <a:ln w="25400" cap="flat">
              <a:solidFill>
                <a:srgbClr val="F9F4ED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5" name="Group 15"/>
          <p:cNvGrpSpPr/>
          <p:nvPr/>
        </p:nvGrpSpPr>
        <p:grpSpPr>
          <a:xfrm rot="0">
            <a:off x="666750" y="8724900"/>
            <a:ext cx="895350" cy="895350"/>
            <a:chOff x="0" y="0"/>
            <a:chExt cx="1193800" cy="1193800"/>
          </a:xfrm>
        </p:grpSpPr>
        <p:grpSp>
          <p:nvGrpSpPr>
            <p:cNvPr id="16" name="Group 16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302457" y="301921"/>
              <a:ext cx="588886" cy="589958"/>
            </a:xfrm>
            <a:custGeom>
              <a:avLst/>
              <a:gdLst/>
              <a:ahLst/>
              <a:cxnLst/>
              <a:rect l="l" t="t" r="r" b="b"/>
              <a:pathLst>
                <a:path w="588886" h="589958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0">
            <a:off x="152400" y="799941"/>
            <a:ext cx="12763500" cy="6584156"/>
            <a:chOff x="0" y="-8766173"/>
            <a:chExt cx="17018000" cy="8778873"/>
          </a:xfrm>
        </p:grpSpPr>
        <p:sp>
          <p:nvSpPr>
            <p:cNvPr id="5" name="AutoShape 5"/>
            <p:cNvSpPr/>
            <p:nvPr/>
          </p:nvSpPr>
          <p:spPr>
            <a:xfrm>
              <a:off x="0" y="12700"/>
              <a:ext cx="7264400" cy="0"/>
            </a:xfrm>
            <a:prstGeom prst="line">
              <a:avLst/>
            </a:prstGeom>
            <a:ln w="25400" cap="flat">
              <a:solidFill>
                <a:srgbClr val="F9F4E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347200" y="-8766173"/>
              <a:ext cx="7670800" cy="29483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u="none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This section provides visual snapshots of the </a:t>
              </a:r>
              <a:r>
                <a:rPr lang="en-US" sz="2100" b="1" u="none">
                  <a:solidFill>
                    <a:srgbClr val="F8F6F4"/>
                  </a:solidFill>
                  <a:latin typeface="TT Interphases Bold" panose="02000803060000020004"/>
                  <a:ea typeface="TT Interphases Bold" panose="02000803060000020004"/>
                  <a:cs typeface="TT Interphases Bold" panose="02000803060000020004"/>
                  <a:sym typeface="TT Interphases Bold" panose="02000803060000020004"/>
                </a:rPr>
                <a:t>Tech Product Review Hub</a:t>
              </a:r>
              <a:r>
                <a:rPr lang="en-US" sz="2100" u="none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. Here, you’ll find examples of the home page layout, category pages for various devices, individual product cards, and the review section that allows users to share their feedback effectively.</a:t>
              </a:r>
              <a:endParaRPr lang="en-US" sz="2100" u="none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04800" y="876300"/>
            <a:ext cx="6886575" cy="2597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00"/>
              </a:lnSpc>
            </a:pPr>
            <a:r>
              <a:rPr lang="en-US" sz="10000" u="none" spc="-199">
                <a:solidFill>
                  <a:srgbClr val="F8F6F4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Website Snapshots</a:t>
            </a:r>
            <a:endParaRPr lang="en-US" sz="10000" u="none" spc="-199">
              <a:solidFill>
                <a:srgbClr val="F8F6F4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0" y="3543300"/>
            <a:ext cx="18224500" cy="67443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857250"/>
            <a:ext cx="8324850" cy="3863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00"/>
              </a:lnSpc>
              <a:spcBef>
                <a:spcPct val="0"/>
              </a:spcBef>
            </a:pPr>
            <a:r>
              <a:rPr lang="en-US" sz="10000" spc="-199">
                <a:solidFill>
                  <a:srgbClr val="F8F6F4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Features Implemented in the Project</a:t>
            </a:r>
            <a:endParaRPr lang="en-US" sz="10000" spc="-199">
              <a:solidFill>
                <a:srgbClr val="F8F6F4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10031730" y="737870"/>
            <a:ext cx="5448300" cy="1594485"/>
            <a:chOff x="0" y="0"/>
            <a:chExt cx="7264400" cy="2125980"/>
          </a:xfrm>
        </p:grpSpPr>
        <p:sp>
          <p:nvSpPr>
            <p:cNvPr id="4" name="TextBox 4"/>
            <p:cNvSpPr txBox="1"/>
            <p:nvPr/>
          </p:nvSpPr>
          <p:spPr>
            <a:xfrm>
              <a:off x="0" y="66675"/>
              <a:ext cx="7264400" cy="5302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3000" spc="-59">
                  <a:solidFill>
                    <a:srgbClr val="F8F6F4"/>
                  </a:solidFill>
                  <a:latin typeface="TT Ramillas" panose="020E0000080000020004"/>
                  <a:ea typeface="TT Ramillas" panose="020E0000080000020004"/>
                  <a:cs typeface="TT Ramillas" panose="020E0000080000020004"/>
                  <a:sym typeface="TT Ramillas" panose="020E0000080000020004"/>
                </a:rPr>
                <a:t>Clean UI</a:t>
              </a:r>
              <a:endParaRPr lang="en-US" sz="3000" spc="-59">
                <a:solidFill>
                  <a:srgbClr val="F8F6F4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7611" y="1158875"/>
              <a:ext cx="7246789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The platform features a </a:t>
              </a:r>
              <a:r>
                <a:rPr lang="en-US" sz="2100" b="1">
                  <a:solidFill>
                    <a:srgbClr val="F8F6F4"/>
                  </a:solidFill>
                  <a:latin typeface="TT Interphases Bold" panose="02000803060000020004"/>
                  <a:ea typeface="TT Interphases Bold" panose="02000803060000020004"/>
                  <a:cs typeface="TT Interphases Bold" panose="02000803060000020004"/>
                  <a:sym typeface="TT Interphases Bold" panose="02000803060000020004"/>
                </a:rPr>
                <a:t>simple and intuitive design</a:t>
              </a:r>
              <a:r>
                <a:rPr lang="en-US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.</a:t>
              </a:r>
              <a:endParaRPr lang="en-US" sz="2100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</p:txBody>
        </p:sp>
        <p:sp>
          <p:nvSpPr>
            <p:cNvPr id="6" name="AutoShape 6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w="25400" cap="flat">
              <a:solidFill>
                <a:srgbClr val="F9F4ED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7" name="Group 7"/>
          <p:cNvGrpSpPr/>
          <p:nvPr/>
        </p:nvGrpSpPr>
        <p:grpSpPr>
          <a:xfrm rot="0">
            <a:off x="10031730" y="5550535"/>
            <a:ext cx="5448300" cy="1594485"/>
            <a:chOff x="0" y="0"/>
            <a:chExt cx="7264400" cy="2125980"/>
          </a:xfrm>
        </p:grpSpPr>
        <p:sp>
          <p:nvSpPr>
            <p:cNvPr id="8" name="TextBox 8"/>
            <p:cNvSpPr txBox="1"/>
            <p:nvPr/>
          </p:nvSpPr>
          <p:spPr>
            <a:xfrm>
              <a:off x="0" y="66675"/>
              <a:ext cx="7264400" cy="5302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3000" spc="-59">
                  <a:solidFill>
                    <a:srgbClr val="F8F6F4"/>
                  </a:solidFill>
                  <a:latin typeface="TT Ramillas" panose="020E0000080000020004"/>
                  <a:ea typeface="TT Ramillas" panose="020E0000080000020004"/>
                  <a:cs typeface="TT Ramillas" panose="020E0000080000020004"/>
                  <a:sym typeface="TT Ramillas" panose="020E0000080000020004"/>
                </a:rPr>
                <a:t>Login Page</a:t>
              </a:r>
              <a:endParaRPr lang="en-US" sz="3000" spc="-59">
                <a:solidFill>
                  <a:srgbClr val="F8F6F4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611" y="1158875"/>
              <a:ext cx="7246789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Includes JavaScript validation for </a:t>
              </a:r>
              <a:r>
                <a:rPr lang="en-US" sz="2100" b="1">
                  <a:solidFill>
                    <a:srgbClr val="F8F6F4"/>
                  </a:solidFill>
                  <a:latin typeface="TT Interphases Bold" panose="02000803060000020004"/>
                  <a:ea typeface="TT Interphases Bold" panose="02000803060000020004"/>
                  <a:cs typeface="TT Interphases Bold" panose="02000803060000020004"/>
                  <a:sym typeface="TT Interphases Bold" panose="02000803060000020004"/>
                </a:rPr>
                <a:t>user email input</a:t>
              </a:r>
              <a:r>
                <a:rPr lang="en-US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.</a:t>
              </a:r>
              <a:endParaRPr lang="en-US" sz="2100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w="25400" cap="flat">
              <a:solidFill>
                <a:srgbClr val="F9F4ED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1" name="Group 11"/>
          <p:cNvGrpSpPr/>
          <p:nvPr/>
        </p:nvGrpSpPr>
        <p:grpSpPr>
          <a:xfrm rot="0">
            <a:off x="767080" y="5067141"/>
            <a:ext cx="5448300" cy="2327275"/>
            <a:chOff x="0" y="66675"/>
            <a:chExt cx="7264400" cy="3103033"/>
          </a:xfrm>
        </p:grpSpPr>
        <p:sp>
          <p:nvSpPr>
            <p:cNvPr id="12" name="TextBox 12"/>
            <p:cNvSpPr txBox="1"/>
            <p:nvPr/>
          </p:nvSpPr>
          <p:spPr>
            <a:xfrm>
              <a:off x="0" y="66675"/>
              <a:ext cx="7264400" cy="5302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3000" spc="-59">
                  <a:solidFill>
                    <a:srgbClr val="F8F6F4"/>
                  </a:solidFill>
                  <a:latin typeface="TT Ramillas" panose="020E0000080000020004"/>
                  <a:ea typeface="TT Ramillas" panose="020E0000080000020004"/>
                  <a:cs typeface="TT Ramillas" panose="020E0000080000020004"/>
                  <a:sym typeface="TT Ramillas" panose="020E0000080000020004"/>
                </a:rPr>
                <a:t>Review Text Box</a:t>
              </a:r>
              <a:endParaRPr lang="en-US" sz="3000" spc="-59">
                <a:solidFill>
                  <a:srgbClr val="F8F6F4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611" y="1158875"/>
              <a:ext cx="7246789" cy="2010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Users can add feedback through a </a:t>
              </a:r>
              <a:r>
                <a:rPr lang="en-US" sz="2100" b="1">
                  <a:solidFill>
                    <a:srgbClr val="F8F6F4"/>
                  </a:solidFill>
                  <a:latin typeface="TT Interphases Bold" panose="02000803060000020004"/>
                  <a:ea typeface="TT Interphases Bold" panose="02000803060000020004"/>
                  <a:cs typeface="TT Interphases Bold" panose="02000803060000020004"/>
                  <a:sym typeface="TT Interphases Bold" panose="02000803060000020004"/>
                </a:rPr>
                <a:t>fixed text box</a:t>
              </a:r>
              <a:r>
                <a:rPr lang="en-US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.</a:t>
              </a:r>
              <a:br>
                <a:rPr lang="en-US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</a:br>
              <a:br>
                <a:rPr lang="en-US" sz="2100">
                  <a:solidFill>
                    <a:srgbClr val="F8F6F4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</a:br>
              <a:endParaRPr lang="en-US" sz="2100">
                <a:solidFill>
                  <a:srgbClr val="F8F6F4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</p:txBody>
        </p:sp>
        <p:sp>
          <p:nvSpPr>
            <p:cNvPr id="14" name="AutoShape 14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w="25400" cap="flat">
              <a:solidFill>
                <a:srgbClr val="F9F4ED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5" name="Group 15"/>
          <p:cNvGrpSpPr/>
          <p:nvPr/>
        </p:nvGrpSpPr>
        <p:grpSpPr>
          <a:xfrm rot="0">
            <a:off x="666750" y="8724900"/>
            <a:ext cx="895350" cy="895350"/>
            <a:chOff x="0" y="0"/>
            <a:chExt cx="1193800" cy="1193800"/>
          </a:xfrm>
        </p:grpSpPr>
        <p:grpSp>
          <p:nvGrpSpPr>
            <p:cNvPr id="16" name="Group 16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302457" y="301921"/>
              <a:ext cx="588886" cy="589958"/>
            </a:xfrm>
            <a:custGeom>
              <a:avLst/>
              <a:gdLst/>
              <a:ahLst/>
              <a:cxnLst/>
              <a:rect l="l" t="t" r="r" b="b"/>
              <a:pathLst>
                <a:path w="588886" h="589958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70" y="6819900"/>
            <a:ext cx="5210175" cy="174307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7353935"/>
            <a:ext cx="6687185" cy="230124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2200" y="2529840"/>
            <a:ext cx="7062470" cy="2846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152400" y="419100"/>
            <a:ext cx="984885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0000">
                <a:solidFill>
                  <a:schemeClr val="bg1"/>
                </a:solidFill>
                <a:latin typeface="TT Ramillas" panose="020E0000080000020004" charset="0"/>
                <a:cs typeface="TT Ramillas" panose="020E0000080000020004" charset="0"/>
              </a:rPr>
              <a:t>Important </a:t>
            </a:r>
            <a:endParaRPr lang="en-US" altLang="en-GB" sz="10000">
              <a:solidFill>
                <a:schemeClr val="bg1"/>
              </a:solidFill>
              <a:latin typeface="TT Ramillas" panose="020E0000080000020004" charset="0"/>
              <a:cs typeface="TT Ramillas" panose="020E0000080000020004" charset="0"/>
            </a:endParaRPr>
          </a:p>
          <a:p>
            <a:r>
              <a:rPr lang="en-US" altLang="en-GB" sz="10000">
                <a:solidFill>
                  <a:schemeClr val="bg1"/>
                </a:solidFill>
                <a:latin typeface="TT Ramillas" panose="020E0000080000020004" charset="0"/>
                <a:cs typeface="TT Ramillas" panose="020E0000080000020004" charset="0"/>
              </a:rPr>
              <a:t>code snippets</a:t>
            </a:r>
            <a:endParaRPr lang="en-US" altLang="en-GB" sz="10000">
              <a:solidFill>
                <a:schemeClr val="bg1"/>
              </a:solidFill>
              <a:latin typeface="TT Ramillas" panose="020E0000080000020004" charset="0"/>
              <a:cs typeface="TT Ramillas" panose="020E00000800000200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81000" y="4000500"/>
            <a:ext cx="785685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4000">
                <a:solidFill>
                  <a:schemeClr val="bg1"/>
                </a:solidFill>
                <a:latin typeface="TT Ramillas" panose="020E0000080000020004" charset="0"/>
                <a:cs typeface="TT Ramillas" panose="020E0000080000020004" charset="0"/>
              </a:rPr>
              <a:t>Navigation Bar (Common Header Section)</a:t>
            </a:r>
            <a:endParaRPr lang="en-US" altLang="en-GB" sz="4000">
              <a:solidFill>
                <a:schemeClr val="bg1"/>
              </a:solidFill>
              <a:latin typeface="TT Ramillas" panose="020E0000080000020004" charset="0"/>
              <a:cs typeface="TT Ramillas" panose="020E000008000002000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5448300"/>
            <a:ext cx="6936105" cy="309118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9907905" y="916940"/>
            <a:ext cx="76790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4000">
                <a:solidFill>
                  <a:schemeClr val="bg1"/>
                </a:solidFill>
                <a:latin typeface="TT Ramillas" panose="020E0000080000020004" charset="0"/>
                <a:cs typeface="TT Ramillas" panose="020E0000080000020004" charset="0"/>
              </a:rPr>
              <a:t>Email Validation(JS Recquired)</a:t>
            </a:r>
            <a:endParaRPr lang="en-US" altLang="en-GB" sz="4000">
              <a:solidFill>
                <a:schemeClr val="bg1"/>
              </a:solidFill>
              <a:latin typeface="TT Ramillas" panose="020E0000080000020004" charset="0"/>
              <a:cs typeface="TT Ramillas" panose="020E000008000002000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0" y="1714500"/>
            <a:ext cx="6858000" cy="29622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3945" y="5372100"/>
            <a:ext cx="3803015" cy="4630420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8915400" y="5600700"/>
            <a:ext cx="4714875" cy="2152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4000">
                <a:solidFill>
                  <a:schemeClr val="bg1"/>
                </a:solidFill>
                <a:latin typeface="TT Ramillas" panose="020E0000080000020004" charset="0"/>
                <a:cs typeface="TT Ramillas" panose="020E0000080000020004" charset="0"/>
              </a:rPr>
              <a:t>CSS for Product Cards (Important Styling Code)</a:t>
            </a:r>
            <a:endParaRPr lang="en-US" altLang="en-GB" sz="4000">
              <a:solidFill>
                <a:schemeClr val="bg1"/>
              </a:solidFill>
              <a:latin typeface="TT Ramillas" panose="020E0000080000020004" charset="0"/>
              <a:cs typeface="TT Ramillas" panose="020E00000800000200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76495" y="3771900"/>
            <a:ext cx="8324850" cy="1330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00"/>
              </a:lnSpc>
              <a:spcBef>
                <a:spcPct val="0"/>
              </a:spcBef>
            </a:pPr>
            <a:r>
              <a:rPr lang="en-US" sz="10000" spc="-199">
                <a:solidFill>
                  <a:srgbClr val="F8F6F4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Thank You!</a:t>
            </a:r>
            <a:endParaRPr lang="en-US" sz="10000" spc="-199">
              <a:solidFill>
                <a:srgbClr val="F8F6F4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548.55,&quot;left&quot;:222,&quot;top&quot;:52.5,&quot;width&quot;:1052.25}"/>
</p:tagLst>
</file>

<file path=ppt/tags/tag2.xml><?xml version="1.0" encoding="utf-8"?>
<p:tagLst xmlns:p="http://schemas.openxmlformats.org/presentationml/2006/main">
  <p:tag name="KSO_WM_DIAGRAM_VIRTUALLY_FRAME" val="{&quot;height&quot;:671.75,&quot;left&quot;:221.99999999999994,&quot;top&quot;:52.5,&quot;width&quot;:1147.15}"/>
</p:tagLst>
</file>

<file path=ppt/tags/tag3.xml><?xml version="1.0" encoding="utf-8"?>
<p:tagLst xmlns:p="http://schemas.openxmlformats.org/presentationml/2006/main">
  <p:tag name="KSO_WM_DIAGRAM_VIRTUALLY_FRAME" val="{&quot;height&quot;:671.75,&quot;left&quot;:221.99999999999994,&quot;top&quot;:52.5,&quot;width&quot;:1147.15}"/>
</p:tagLst>
</file>

<file path=ppt/tags/tag4.xml><?xml version="1.0" encoding="utf-8"?>
<p:tagLst xmlns:p="http://schemas.openxmlformats.org/presentationml/2006/main">
  <p:tag name="KSO_WM_DIAGRAM_VIRTUALLY_FRAME" val="{&quot;height&quot;:671.75,&quot;left&quot;:221.99999999999994,&quot;top&quot;:52.5,&quot;width&quot;:1147.15}"/>
</p:tagLst>
</file>

<file path=ppt/tags/tag5.xml><?xml version="1.0" encoding="utf-8"?>
<p:tagLst xmlns:p="http://schemas.openxmlformats.org/presentationml/2006/main">
  <p:tag name="KSO_WM_DIAGRAM_VIRTUALLY_FRAME" val="{&quot;height&quot;:664.851694535332,&quot;left&quot;:65.97543834640051,&quot;top&quot;:52.5,&quot;width&quot;:1208.2745616535994}"/>
</p:tagLst>
</file>

<file path=ppt/tags/tag6.xml><?xml version="1.0" encoding="utf-8"?>
<p:tagLst xmlns:p="http://schemas.openxmlformats.org/presentationml/2006/main">
  <p:tag name="KSO_WM_DIAGRAM_VIRTUALLY_FRAME" val="{&quot;height&quot;:664.851694535332,&quot;left&quot;:65.97543834640051,&quot;top&quot;:52.5,&quot;width&quot;:1208.2745616535994}"/>
</p:tagLst>
</file>

<file path=ppt/tags/tag7.xml><?xml version="1.0" encoding="utf-8"?>
<p:tagLst xmlns:p="http://schemas.openxmlformats.org/presentationml/2006/main">
  <p:tag name="KSO_WM_DIAGRAM_VIRTUALLY_FRAME" val="{&quot;height&quot;:664.851694535332,&quot;left&quot;:65.97543834640051,&quot;top&quot;:52.5,&quot;width&quot;:1208.2745616535994}"/>
</p:tagLst>
</file>

<file path=ppt/tags/tag8.xml><?xml version="1.0" encoding="utf-8"?>
<p:tagLst xmlns:p="http://schemas.openxmlformats.org/presentationml/2006/main">
  <p:tag name="KSO_WM_DIAGRAM_VIRTUALLY_FRAME" val="{&quot;height&quot;:664.851694535332,&quot;left&quot;:65.97543834640051,&quot;top&quot;:52.5,&quot;width&quot;:1208.2745616535994}"/>
</p:tagLst>
</file>

<file path=ppt/tags/tag9.xml><?xml version="1.0" encoding="utf-8"?>
<p:tagLst xmlns:p="http://schemas.openxmlformats.org/presentationml/2006/main">
  <p:tag name="KSO_WM_DIAGRAM_VIRTUALLY_FRAME" val="{&quot;height&quot;:664.851694535332,&quot;left&quot;:65.97543834640051,&quot;top&quot;:52.5,&quot;width&quot;:1208.2745616535994}"/>
</p:tagLst>
</file>

<file path=ppt/tags/tag10.xml><?xml version="1.0" encoding="utf-8"?>
<p:tagLst xmlns:p="http://schemas.openxmlformats.org/presentationml/2006/main">
  <p:tag name="KSO_WM_DIAGRAM_VIRTUALLY_FRAME" val="{&quot;height&quot;:664.851694535332,&quot;left&quot;:65.97543834640051,&quot;top&quot;:52.5,&quot;width&quot;:1208.2745616535994}"/>
</p:tagLst>
</file>

<file path=ppt/tags/tag11.xml><?xml version="1.0" encoding="utf-8"?>
<p:tagLst xmlns:p="http://schemas.openxmlformats.org/presentationml/2006/main">
  <p:tag name="KSO_WM_DIAGRAM_VIRTUALLY_FRAME" val="{&quot;height&quot;:664.851694535332,&quot;left&quot;:65.97543834640051,&quot;top&quot;:52.5,&quot;width&quot;:1208.2745616535994}"/>
</p:tagLst>
</file>

<file path=ppt/tags/tag12.xml><?xml version="1.0" encoding="utf-8"?>
<p:tagLst xmlns:p="http://schemas.openxmlformats.org/presentationml/2006/main">
  <p:tag name="KSO_WM_DIAGRAM_VIRTUALLY_FRAME" val="{&quot;height&quot;:664.851694535332,&quot;left&quot;:65.97543834640051,&quot;top&quot;:52.5,&quot;width&quot;:1208.2745616535994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tretch>
            <a:fillRect l="-74884" r="-78767"/>
          </a:stretch>
        </a:blipFill>
      </a:spPr>
      <a:bodyPr/>
      <a:lstStyle/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1211</Words>
  <Application>WPS Presentation</Application>
  <PresentationFormat>On-screen Show (4:3)</PresentationFormat>
  <Paragraphs>62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6" baseType="lpstr">
      <vt:lpstr>Arial</vt:lpstr>
      <vt:lpstr>SimSun</vt:lpstr>
      <vt:lpstr>Wingdings</vt:lpstr>
      <vt:lpstr>TT Ramillas</vt:lpstr>
      <vt:lpstr>TT Interphases</vt:lpstr>
      <vt:lpstr>TT Interphases Bold</vt:lpstr>
      <vt:lpstr>Calibri</vt:lpstr>
      <vt:lpstr>Microsoft YaHei</vt:lpstr>
      <vt:lpstr>Arial Unicode MS</vt:lpstr>
      <vt:lpstr>Candara Light</vt:lpstr>
      <vt:lpstr>Cascadia Code</vt:lpstr>
      <vt:lpstr>Calibri Light</vt:lpstr>
      <vt:lpstr>Cambria Math</vt:lpstr>
      <vt:lpstr>Candara</vt:lpstr>
      <vt:lpstr>Cascadia Code SemiBold</vt:lpstr>
      <vt:lpstr>Cascadia Code Light</vt:lpstr>
      <vt:lpstr>Cascadia Mono</vt:lpstr>
      <vt:lpstr>Arial</vt:lpstr>
      <vt:lpstr>TT Ramillas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Hub</dc:title>
  <dc:creator/>
  <dc:description>Presentation - Hub</dc:description>
  <cp:lastModifiedBy>kͩ sͬiⷡnͣgⷦhⷬaⷴlͤ</cp:lastModifiedBy>
  <cp:revision>4</cp:revision>
  <dcterms:created xsi:type="dcterms:W3CDTF">2006-08-16T00:00:00Z</dcterms:created>
  <dcterms:modified xsi:type="dcterms:W3CDTF">2025-12-10T18:32:29Z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CF23B31F901C43D3A5E7B10939FA45DE_12</vt:lpwstr>
  </property>
  <property fmtid="{D5CDD505-2E9C-101B-9397-08002B2CF9AE}" pid="3" name="KSOProductBuildVer">
    <vt:lpwstr>2057-12.2.0.23158</vt:lpwstr>
  </property>
</Properties>
</file>